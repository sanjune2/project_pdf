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9" r:id="rId4"/>
    <p:sldId id="260" r:id="rId5"/>
    <p:sldId id="261" r:id="rId6"/>
    <p:sldId id="269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61838" cy="6858000"/>
  <p:notesSz cx="6858000" cy="121618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48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0594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6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31.png"/><Relationship Id="rId4" Type="http://schemas.openxmlformats.org/officeDocument/2006/relationships/image" Target="../media/image9.png"/><Relationship Id="rId9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291840" cy="3291840"/>
          </a:xfrm>
          <a:prstGeom prst="ellipse">
            <a:avLst/>
          </a:prstGeom>
          <a:solidFill>
            <a:srgbClr val="2A9D8F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97680"/>
            <a:ext cx="3108960" cy="3108960"/>
          </a:xfrm>
          <a:prstGeom prst="ellipse">
            <a:avLst/>
          </a:prstGeom>
          <a:solidFill>
            <a:srgbClr val="2A9D8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822960" y="4937760"/>
            <a:ext cx="2560320" cy="2560320"/>
          </a:xfrm>
          <a:prstGeom prst="ellipse">
            <a:avLst/>
          </a:prstGeom>
          <a:solidFill>
            <a:srgbClr val="E76F51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868680"/>
            <a:ext cx="1024128" cy="1024128"/>
          </a:xfrm>
          <a:prstGeom prst="ellipse">
            <a:avLst/>
          </a:prstGeom>
          <a:solidFill>
            <a:srgbClr val="2A9D8F"/>
          </a:solidFill>
          <a:ln/>
          <a:effectLst>
            <a:outerShdw blurRad="88900" dist="25400" dir="5400000" algn="bl" rotWithShape="0">
              <a:srgbClr val="0A2C39">
                <a:alpha val="16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1152144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2331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8FD4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SEOUL METRO  ·  에너지 효율 개선 입찰 제안서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66928" y="274320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시간 예측 데이터를 활용한</a:t>
            </a:r>
            <a:endParaRPr lang="en-US" sz="400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 환기 운영 최적화 제안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66928" y="437083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8FD4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기반 시·공간 차등형 스마트 환기 시스템(Smart Ventilation)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66928" y="5138928"/>
            <a:ext cx="1892808" cy="457200"/>
          </a:xfrm>
          <a:prstGeom prst="roundRect">
            <a:avLst>
              <a:gd name="adj" fmla="val 50000"/>
            </a:avLst>
          </a:prstGeom>
          <a:solidFill>
            <a:srgbClr val="0A2C39"/>
          </a:solidFill>
          <a:ln w="12700">
            <a:solidFill>
              <a:srgbClr val="1C7D7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5138928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FD4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SCQA 문제 정의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660904" y="5138928"/>
            <a:ext cx="2496312" cy="457200"/>
          </a:xfrm>
          <a:prstGeom prst="roundRect">
            <a:avLst>
              <a:gd name="adj" fmla="val 50000"/>
            </a:avLst>
          </a:prstGeom>
          <a:solidFill>
            <a:srgbClr val="0A2C39"/>
          </a:solidFill>
          <a:ln w="12700">
            <a:solidFill>
              <a:srgbClr val="1C7D7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660904" y="5138928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FD4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 검증 (t-test)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358384" y="5138928"/>
            <a:ext cx="1440180" cy="457200"/>
          </a:xfrm>
          <a:prstGeom prst="roundRect">
            <a:avLst>
              <a:gd name="adj" fmla="val 50000"/>
            </a:avLst>
          </a:prstGeom>
          <a:solidFill>
            <a:srgbClr val="0A2C39"/>
          </a:solidFill>
          <a:ln w="12700">
            <a:solidFill>
              <a:srgbClr val="1C7D7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58384" y="5138928"/>
            <a:ext cx="1440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FD4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민토 피라미드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999732" y="5138928"/>
            <a:ext cx="2043684" cy="457200"/>
          </a:xfrm>
          <a:prstGeom prst="roundRect">
            <a:avLst>
              <a:gd name="adj" fmla="val 50000"/>
            </a:avLst>
          </a:prstGeom>
          <a:solidFill>
            <a:srgbClr val="0A2C39"/>
          </a:solidFill>
          <a:ln w="12700">
            <a:solidFill>
              <a:srgbClr val="1C7D7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99732" y="5138928"/>
            <a:ext cx="20436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FD4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 Plan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66928" y="61996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A0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Consulting Proposal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022592" y="61996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FA0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서울교통공사 입찰 제안 |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2A9D8F"/>
          </a:solidFill>
          <a:ln/>
          <a:effectLst>
            <a:outerShdw blurRad="88900" dist="25400" dir="5400000" algn="bl" rotWithShape="0">
              <a:srgbClr val="0A2C39">
                <a:alpha val="16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420624"/>
            <a:ext cx="8595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배경 및 문제 정의 (SCQA)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8851392" y="512064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kern="0" spc="100" dirty="0">
                <a:solidFill>
                  <a:srgbClr val="2A9D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BACKGROUND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66928" y="1280160"/>
            <a:ext cx="11027664" cy="1097280"/>
          </a:xfrm>
          <a:prstGeom prst="roundRect">
            <a:avLst>
              <a:gd name="adj" fmla="val 4167"/>
            </a:avLst>
          </a:prstGeom>
          <a:solidFill>
            <a:srgbClr val="F5F9F9"/>
          </a:solidFill>
          <a:ln w="12700">
            <a:solidFill>
              <a:srgbClr val="D7E4E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" y="1490472"/>
            <a:ext cx="676656" cy="67665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490472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1664208" y="140817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9D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Situation  현황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664208" y="1700784"/>
            <a:ext cx="96560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3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</a:rPr>
              <a:t>서울교통공사는 지하철 내 쾌적한 환경을 유지하기 위해 냉방</a:t>
            </a:r>
            <a:r>
              <a:rPr lang="en-US" altLang="ko-KR" sz="13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</a:rPr>
              <a:t>·</a:t>
            </a:r>
            <a:r>
              <a:rPr lang="ko-KR" altLang="en-US" sz="13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</a:rPr>
              <a:t>환기 시스템을 운영하고 있다</a:t>
            </a:r>
            <a:r>
              <a:rPr lang="en-US" altLang="ko-KR" sz="13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</a:rPr>
              <a:t>. </a:t>
            </a:r>
            <a:r>
              <a:rPr lang="ko-KR" altLang="en-US" sz="13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</a:rPr>
              <a:t>현재는 열차 무게</a:t>
            </a:r>
            <a:r>
              <a:rPr lang="en-US" altLang="ko-KR" sz="13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</a:rPr>
              <a:t>, </a:t>
            </a:r>
            <a:r>
              <a:rPr lang="ko-KR" altLang="en-US" sz="13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</a:rPr>
              <a:t>공기 질 센서</a:t>
            </a:r>
            <a:r>
              <a:rPr lang="en-US" altLang="ko-KR" sz="13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</a:rPr>
              <a:t>, CCTV </a:t>
            </a:r>
            <a:r>
              <a:rPr lang="ko-KR" altLang="en-US" sz="13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</a:rPr>
              <a:t>데이터를 활용하여 환기 설비를 제어하고 있으며</a:t>
            </a:r>
            <a:r>
              <a:rPr lang="en-US" altLang="ko-KR" sz="13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</a:rPr>
              <a:t>, </a:t>
            </a:r>
            <a:r>
              <a:rPr lang="ko-KR" altLang="en-US" sz="13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</a:rPr>
              <a:t>이를 통해 실내 공기질을 관리하고 있다</a:t>
            </a:r>
            <a:r>
              <a:rPr lang="en-US" altLang="ko-KR" sz="13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</a:rPr>
              <a:t>.</a:t>
            </a:r>
          </a:p>
        </p:txBody>
      </p:sp>
      <p:sp>
        <p:nvSpPr>
          <p:cNvPr id="11" name="Shape 8"/>
          <p:cNvSpPr/>
          <p:nvPr/>
        </p:nvSpPr>
        <p:spPr>
          <a:xfrm>
            <a:off x="566928" y="2487168"/>
            <a:ext cx="11027664" cy="1097280"/>
          </a:xfrm>
          <a:prstGeom prst="roundRect">
            <a:avLst>
              <a:gd name="adj" fmla="val 4167"/>
            </a:avLst>
          </a:prstGeom>
          <a:solidFill>
            <a:srgbClr val="F5F9F9"/>
          </a:solidFill>
          <a:ln w="12700">
            <a:solidFill>
              <a:srgbClr val="D7E4E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04672" y="2697480"/>
            <a:ext cx="676656" cy="676656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3" name="Text 10"/>
          <p:cNvSpPr/>
          <p:nvPr/>
        </p:nvSpPr>
        <p:spPr>
          <a:xfrm>
            <a:off x="804672" y="269748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1664208" y="261518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Complication  문제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664208" y="2907792"/>
            <a:ext cx="96560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3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</a:rPr>
              <a:t>그러나 현재 시스템은 승객 증가나 공기 질 변화가 발생한 이후에 대응하는 방식이다</a:t>
            </a:r>
            <a:r>
              <a:rPr lang="en-US" altLang="ko-KR" sz="13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</a:rPr>
              <a:t>. </a:t>
            </a:r>
            <a:r>
              <a:rPr lang="ko-KR" altLang="en-US" sz="13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</a:rPr>
              <a:t>또한 이용객이 적은 시간대에도 불필요한 환기 운영이 발생할 수 있어 에너지 효율 측면에서 한계가 존재한다</a:t>
            </a:r>
            <a:r>
              <a:rPr lang="en-US" altLang="ko-KR" sz="13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</a:rPr>
              <a:t>.</a:t>
            </a:r>
          </a:p>
        </p:txBody>
      </p:sp>
      <p:sp>
        <p:nvSpPr>
          <p:cNvPr id="16" name="Shape 13"/>
          <p:cNvSpPr/>
          <p:nvPr/>
        </p:nvSpPr>
        <p:spPr>
          <a:xfrm>
            <a:off x="566928" y="3694176"/>
            <a:ext cx="11027664" cy="1097280"/>
          </a:xfrm>
          <a:prstGeom prst="roundRect">
            <a:avLst>
              <a:gd name="adj" fmla="val 4167"/>
            </a:avLst>
          </a:prstGeom>
          <a:solidFill>
            <a:srgbClr val="F5F9F9"/>
          </a:solidFill>
          <a:ln w="12700">
            <a:solidFill>
              <a:srgbClr val="D7E4E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4672" y="3904488"/>
            <a:ext cx="676656" cy="676656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8" name="Text 15"/>
          <p:cNvSpPr/>
          <p:nvPr/>
        </p:nvSpPr>
        <p:spPr>
          <a:xfrm>
            <a:off x="804672" y="3904488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1664208" y="382219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A2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Question  질문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664208" y="4114800"/>
            <a:ext cx="96560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3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</a:rPr>
              <a:t>현재 활용 중인 데이터만으로 환기 시스템을 운영하는 것이 최선일까</a:t>
            </a:r>
            <a:r>
              <a:rPr lang="en-US" altLang="ko-KR" sz="13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</a:rPr>
              <a:t>? </a:t>
            </a:r>
            <a:r>
              <a:rPr lang="ko-KR" altLang="en-US" sz="13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</a:rPr>
              <a:t>이용객이 집중되는 시간과 장소를 미리 예측하여 환기 설비를 더욱 효율적으로 운영할 수는 없을까</a:t>
            </a:r>
            <a:r>
              <a:rPr lang="en-US" altLang="ko-KR" sz="13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</a:rPr>
              <a:t>?</a:t>
            </a:r>
          </a:p>
        </p:txBody>
      </p:sp>
      <p:sp>
        <p:nvSpPr>
          <p:cNvPr id="21" name="Shape 18"/>
          <p:cNvSpPr/>
          <p:nvPr/>
        </p:nvSpPr>
        <p:spPr>
          <a:xfrm>
            <a:off x="566928" y="4901184"/>
            <a:ext cx="11027664" cy="1097280"/>
          </a:xfrm>
          <a:prstGeom prst="roundRect">
            <a:avLst>
              <a:gd name="adj" fmla="val 4167"/>
            </a:avLst>
          </a:prstGeom>
          <a:solidFill>
            <a:srgbClr val="F5F9F9"/>
          </a:solidFill>
          <a:ln w="12700">
            <a:solidFill>
              <a:srgbClr val="D7E4E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04672" y="5111496"/>
            <a:ext cx="676656" cy="676656"/>
          </a:xfrm>
          <a:prstGeom prst="ellipse">
            <a:avLst/>
          </a:prstGeom>
          <a:solidFill>
            <a:srgbClr val="1C7D72"/>
          </a:solidFill>
          <a:ln/>
        </p:spPr>
      </p:sp>
      <p:sp>
        <p:nvSpPr>
          <p:cNvPr id="23" name="Text 20"/>
          <p:cNvSpPr/>
          <p:nvPr/>
        </p:nvSpPr>
        <p:spPr>
          <a:xfrm>
            <a:off x="804672" y="5111496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1664208" y="502920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D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Answer  해답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664208" y="5321808"/>
            <a:ext cx="96560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3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</a:rPr>
              <a:t>본 프로젝트는 시간대별 승</a:t>
            </a:r>
            <a:r>
              <a:rPr lang="en-US" altLang="ko-KR" sz="13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</a:rPr>
              <a:t>/</a:t>
            </a:r>
            <a:r>
              <a:rPr lang="ko-KR" altLang="en-US" sz="13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</a:rPr>
              <a:t>하차 데이터를 활용하여 이용객 집중 패턴을 분석하고자 한다</a:t>
            </a:r>
            <a:r>
              <a:rPr lang="en-US" altLang="ko-KR" sz="13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</a:rPr>
              <a:t>. </a:t>
            </a:r>
            <a:r>
              <a:rPr lang="ko-KR" altLang="en-US" sz="13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</a:rPr>
              <a:t>이를 통해 혼잡도를 사전에 예측하고</a:t>
            </a:r>
            <a:r>
              <a:rPr lang="en-US" altLang="ko-KR" sz="13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</a:rPr>
              <a:t>, </a:t>
            </a:r>
            <a:r>
              <a:rPr lang="ko-KR" altLang="en-US" sz="13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</a:rPr>
              <a:t>환기 설비를 선제적으로 운영하는 데이터 기반 스마트 환기 시스템을 제안한다</a:t>
            </a:r>
            <a:r>
              <a:rPr lang="en-US" altLang="ko-KR" sz="13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2A9D8F"/>
          </a:solidFill>
          <a:ln/>
          <a:effectLst>
            <a:outerShdw blurRad="88900" dist="25400" dir="5400000" algn="bl" rotWithShape="0">
              <a:srgbClr val="0A2C39">
                <a:alpha val="16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420624"/>
            <a:ext cx="8595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혼잡도 증가에 따른 실내 오염도(미세먼지) 상승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8851392" y="512064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kern="0" spc="100" dirty="0">
                <a:solidFill>
                  <a:srgbClr val="2A9D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IT MATTERS</a:t>
            </a:r>
            <a:endParaRPr lang="en-US" sz="11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11027664" cy="2724912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66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혼잡도 상태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객차·승강장 밀집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PM2.5 평균 농도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비혼잡 대비 증가율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A9D8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여유 (비혼잡)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628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정원 50% 이하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628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 ~ 25 ㎍/㎥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F757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 (100%)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7D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보통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628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정원 50 ~ 80%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628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35 ~ 45 ㎍/㎥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88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1.5 ~ 1.8배 (50%↑)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88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혼잡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628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정원 80 ~ 130%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628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55 ~ 75 ㎍/㎥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954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2.5 ~ 3.0배 (150%↑)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C954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극심 혼잡 (지옥철)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628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정원 130% 이상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628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85 ~ 110 ㎍/㎥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954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3.5 ~ 4.5배 (250%↑)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66928" y="5029200"/>
            <a:ext cx="11027664" cy="1097280"/>
          </a:xfrm>
          <a:prstGeom prst="roundRect">
            <a:avLst>
              <a:gd name="adj" fmla="val 5000"/>
            </a:avLst>
          </a:prstGeom>
          <a:solidFill>
            <a:srgbClr val="FCEFEA"/>
          </a:solidFill>
          <a:ln/>
        </p:spPr>
      </p:sp>
      <p:sp>
        <p:nvSpPr>
          <p:cNvPr id="8" name="Shape 4"/>
          <p:cNvSpPr/>
          <p:nvPr/>
        </p:nvSpPr>
        <p:spPr>
          <a:xfrm>
            <a:off x="877824" y="5303520"/>
            <a:ext cx="548640" cy="548640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5458968"/>
            <a:ext cx="256032" cy="2560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64208" y="5029200"/>
            <a:ext cx="96560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5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혼잡도 100% 이상(출·퇴근)에는 비혼잡 시간 대비 오염물질 농도가 최대 4.5배 </a:t>
            </a:r>
            <a:r>
              <a:rPr lang="en-US" sz="1500" b="1" dirty="0" err="1">
                <a:solidFill>
                  <a:srgbClr val="C95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급증</a:t>
            </a:r>
            <a:r>
              <a:rPr lang="en-US" sz="1500" dirty="0">
                <a:solidFill>
                  <a:srgbClr val="5F75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5F75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</a:t>
            </a:r>
            <a:r>
              <a:rPr lang="en-US" sz="15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혼잡이 시작되는 ‘바로 그 시점’에 선제적 환기가 반드시 필요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566928" y="623620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75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서울연구원 등 공개 데이터 종합 (혼잡도-실내 미세먼지 농도 상관)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2A9D8F"/>
          </a:solidFill>
          <a:ln/>
          <a:effectLst>
            <a:outerShdw blurRad="88900" dist="25400" dir="5400000" algn="bl" rotWithShape="0">
              <a:srgbClr val="0A2C39">
                <a:alpha val="16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420624"/>
            <a:ext cx="8595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데이터 &amp; 분석 방향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8851392" y="512064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kern="0" spc="100" dirty="0">
                <a:solidFill>
                  <a:srgbClr val="2A9D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66928" y="1261872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F75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활용 데이터에 ‘시간대별 이용객 예측’ 데이터를 더합니다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66928" y="1691640"/>
            <a:ext cx="2606040" cy="1691640"/>
          </a:xfrm>
          <a:prstGeom prst="roundRect">
            <a:avLst>
              <a:gd name="adj" fmla="val 3784"/>
            </a:avLst>
          </a:prstGeom>
          <a:solidFill>
            <a:srgbClr val="F5F9F9"/>
          </a:solidFill>
          <a:ln w="12700">
            <a:solidFill>
              <a:srgbClr val="D7E4E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41248" y="1938528"/>
            <a:ext cx="566928" cy="566928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2093976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41248" y="261518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열차 무게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41248" y="298094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75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탑승객 추정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374136" y="1691640"/>
            <a:ext cx="2606040" cy="1691640"/>
          </a:xfrm>
          <a:prstGeom prst="roundRect">
            <a:avLst>
              <a:gd name="adj" fmla="val 3784"/>
            </a:avLst>
          </a:prstGeom>
          <a:solidFill>
            <a:srgbClr val="F5F9F9"/>
          </a:solidFill>
          <a:ln w="12700">
            <a:solidFill>
              <a:srgbClr val="D7E4E5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648456" y="1938528"/>
            <a:ext cx="566928" cy="566928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3904" y="2093976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48456" y="261518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공기질 센서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3648456" y="298094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75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실내 오염도 측정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181344" y="1691640"/>
            <a:ext cx="2606040" cy="1691640"/>
          </a:xfrm>
          <a:prstGeom prst="roundRect">
            <a:avLst>
              <a:gd name="adj" fmla="val 3784"/>
            </a:avLst>
          </a:prstGeom>
          <a:solidFill>
            <a:srgbClr val="F5F9F9"/>
          </a:solidFill>
          <a:ln w="12700">
            <a:solidFill>
              <a:srgbClr val="D7E4E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455664" y="1938528"/>
            <a:ext cx="566928" cy="566928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1112" y="2093976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455664" y="261518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CCTV 영상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6455664" y="298094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75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혼잡 확인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8988552" y="1691640"/>
            <a:ext cx="2606040" cy="1691640"/>
          </a:xfrm>
          <a:prstGeom prst="roundRect">
            <a:avLst>
              <a:gd name="adj" fmla="val 3784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  <a:effectLst>
            <a:outerShdw blurRad="88900" dist="25400" dir="5400000" algn="bl" rotWithShape="0">
              <a:srgbClr val="0A2C39">
                <a:alpha val="1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9262872" y="193852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18320" y="2093976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262872" y="261518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시간대별 예측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9262872" y="298094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D4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이용객 예측 (추가 제안)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11091672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＋</a:t>
            </a:r>
            <a:endParaRPr lang="en-US" sz="2200" dirty="0"/>
          </a:p>
        </p:txBody>
      </p:sp>
      <p:sp>
        <p:nvSpPr>
          <p:cNvPr id="28" name="Shape 21"/>
          <p:cNvSpPr/>
          <p:nvPr/>
        </p:nvSpPr>
        <p:spPr>
          <a:xfrm>
            <a:off x="566928" y="3703320"/>
            <a:ext cx="11027664" cy="2331720"/>
          </a:xfrm>
          <a:prstGeom prst="roundRect">
            <a:avLst>
              <a:gd name="adj" fmla="val 2353"/>
            </a:avLst>
          </a:prstGeom>
          <a:solidFill>
            <a:srgbClr val="EAF3F2"/>
          </a:solidFill>
          <a:ln/>
        </p:spPr>
      </p:sp>
      <p:sp>
        <p:nvSpPr>
          <p:cNvPr id="29" name="Text 22"/>
          <p:cNvSpPr/>
          <p:nvPr/>
        </p:nvSpPr>
        <p:spPr>
          <a:xfrm>
            <a:off x="877824" y="38587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vs 제안 — 대응 방식의 전환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877824" y="431596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5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(사후 대응)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877824" y="4626864"/>
            <a:ext cx="10387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승객 급증  →  센서 변화 감지  →  환기 증가   (이미 혼잡이 시작된 뒤 반응)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877824" y="517550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D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(선제 대응)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877824" y="5486400"/>
            <a:ext cx="10387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D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이용객 예측  →  08시 강남역 혼잡 예상  →  07:50 환기 선가동  →  혼잡 발생 시 최적 공기질 유지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2A9D8F"/>
          </a:solidFill>
          <a:ln/>
          <a:effectLst>
            <a:outerShdw blurRad="88900" dist="25400" dir="5400000" algn="bl" rotWithShape="0">
              <a:srgbClr val="0A2C39">
                <a:alpha val="16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420624"/>
            <a:ext cx="8595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[시간적 차등] 시간대별 유동인구 비중 추이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8851392" y="512064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kern="0" spc="100" dirty="0">
                <a:solidFill>
                  <a:srgbClr val="2A9D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 · WHEN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1078992" y="1280160"/>
            <a:ext cx="10003536" cy="3671003"/>
          </a:xfrm>
          <a:prstGeom prst="roundRect">
            <a:avLst>
              <a:gd name="adj" fmla="val 1245"/>
            </a:avLst>
          </a:prstGeom>
          <a:solidFill>
            <a:srgbClr val="F5F9F9"/>
          </a:solidFill>
          <a:ln w="12700">
            <a:solidFill>
              <a:srgbClr val="D7E4E5"/>
            </a:solidFill>
            <a:prstDash val="solid"/>
          </a:ln>
        </p:spPr>
      </p:sp>
      <p:pic>
        <p:nvPicPr>
          <p:cNvPr id="7" name="Image 1" descr="img/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1389888"/>
            <a:ext cx="9784080" cy="3451547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66928" y="5115755"/>
            <a:ext cx="3493008" cy="1207008"/>
          </a:xfrm>
          <a:prstGeom prst="roundRect">
            <a:avLst>
              <a:gd name="adj" fmla="val 5303"/>
            </a:avLst>
          </a:prstGeom>
          <a:solidFill>
            <a:srgbClr val="F5F9F9"/>
          </a:solidFill>
          <a:ln w="15875">
            <a:solidFill>
              <a:srgbClr val="E76F51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04672" y="5353499"/>
            <a:ext cx="512064" cy="512064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5499803"/>
            <a:ext cx="219456" cy="2194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81328" y="5298635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출근 피크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1481328" y="5609531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75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08–09시 · 약 9.7%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804672" y="5957003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Peak 모드 최대 가동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4334256" y="5115755"/>
            <a:ext cx="3493008" cy="1207008"/>
          </a:xfrm>
          <a:prstGeom prst="roundRect">
            <a:avLst>
              <a:gd name="adj" fmla="val 5303"/>
            </a:avLst>
          </a:prstGeom>
          <a:solidFill>
            <a:srgbClr val="F5F9F9"/>
          </a:solidFill>
          <a:ln w="15875">
            <a:solidFill>
              <a:srgbClr val="E76F51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4572000" y="5353499"/>
            <a:ext cx="512064" cy="512064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8304" y="5499803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48656" y="5298635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퇴근 피크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5248656" y="5609531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75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18–19시 · 약 9.7%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572000" y="5957003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Peak 모드 최대 가동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8101584" y="5115755"/>
            <a:ext cx="3493008" cy="1207008"/>
          </a:xfrm>
          <a:prstGeom prst="roundRect">
            <a:avLst>
              <a:gd name="adj" fmla="val 5303"/>
            </a:avLst>
          </a:prstGeom>
          <a:solidFill>
            <a:srgbClr val="F5F9F9"/>
          </a:solidFill>
          <a:ln w="15875">
            <a:solidFill>
              <a:srgbClr val="2A9D8F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8339328" y="5353499"/>
            <a:ext cx="512064" cy="512064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5632" y="5499803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015984" y="5298635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 여유 구간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9015984" y="5609531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75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11–15시 · 4%대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8339328" y="5957003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9D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Eco 모드 최소 가동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2A9D8F"/>
          </a:solidFill>
          <a:ln/>
          <a:effectLst>
            <a:outerShdw blurRad="88900" dist="25400" dir="5400000" algn="bl" rotWithShape="0">
              <a:srgbClr val="0A2C39">
                <a:alpha val="16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420624"/>
            <a:ext cx="8595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[호선 분석] 왜 ‘2호선’을 기준으로 선정했나?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8851392" y="512064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kern="0" spc="100" dirty="0">
                <a:solidFill>
                  <a:srgbClr val="2A9D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LINE 2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66928" y="1371600"/>
            <a:ext cx="6629400" cy="3774813"/>
          </a:xfrm>
          <a:prstGeom prst="roundRect">
            <a:avLst>
              <a:gd name="adj" fmla="val 1177"/>
            </a:avLst>
          </a:prstGeom>
          <a:solidFill>
            <a:srgbClr val="F5F9F9"/>
          </a:solidFill>
          <a:ln w="12700">
            <a:solidFill>
              <a:srgbClr val="D7E4E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1426464"/>
            <a:ext cx="6446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시간대별 호선별 승하차 격차 추이 (승차 − 하차)</a:t>
            </a:r>
            <a:endParaRPr lang="en-US" sz="1200" dirty="0"/>
          </a:p>
        </p:txBody>
      </p:sp>
      <p:pic>
        <p:nvPicPr>
          <p:cNvPr id="8" name="Image 1" descr="img/line_g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1719072"/>
            <a:ext cx="6446520" cy="32627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5146413"/>
            <a:ext cx="6446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F75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주황색 = 2호선. 출근(08–09시) 하차·퇴근(17–19시) 승차 격차 모두 진폭이 압도적으로 가장 큼.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7516368" y="1371600"/>
            <a:ext cx="4078224" cy="1243584"/>
          </a:xfrm>
          <a:prstGeom prst="roundRect">
            <a:avLst>
              <a:gd name="adj" fmla="val 5147"/>
            </a:avLst>
          </a:prstGeom>
          <a:solidFill>
            <a:srgbClr val="F5F9F9"/>
          </a:solidFill>
          <a:ln w="15875">
            <a:solidFill>
              <a:srgbClr val="E76F51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754112" y="1517904"/>
            <a:ext cx="3621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199만 명</a:t>
            </a:r>
            <a:endParaRPr lang="en-US" sz="2300" dirty="0"/>
          </a:p>
        </p:txBody>
      </p:sp>
      <p:sp>
        <p:nvSpPr>
          <p:cNvPr id="12" name="Text 8"/>
          <p:cNvSpPr/>
          <p:nvPr/>
        </p:nvSpPr>
        <p:spPr>
          <a:xfrm>
            <a:off x="7754112" y="1993392"/>
            <a:ext cx="3621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2호선 일평균 수송인원 — 1~8호선 중 1위 (2025년 기준)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516368" y="2761488"/>
            <a:ext cx="4078224" cy="1243584"/>
          </a:xfrm>
          <a:prstGeom prst="roundRect">
            <a:avLst>
              <a:gd name="adj" fmla="val 5147"/>
            </a:avLst>
          </a:prstGeom>
          <a:solidFill>
            <a:srgbClr val="F5F9F9"/>
          </a:solidFill>
          <a:ln w="15875">
            <a:solidFill>
              <a:srgbClr val="C8821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754112" y="2907792"/>
            <a:ext cx="3621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C88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30%</a:t>
            </a:r>
            <a:endParaRPr lang="en-US" sz="2300" dirty="0"/>
          </a:p>
        </p:txBody>
      </p:sp>
      <p:sp>
        <p:nvSpPr>
          <p:cNvPr id="15" name="Text 11"/>
          <p:cNvSpPr/>
          <p:nvPr/>
        </p:nvSpPr>
        <p:spPr>
          <a:xfrm>
            <a:off x="7754112" y="3383280"/>
            <a:ext cx="3621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수송 분담률 — 2위 노선의 2배 이상으로 월등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516368" y="4151376"/>
            <a:ext cx="4078224" cy="1243584"/>
          </a:xfrm>
          <a:prstGeom prst="roundRect">
            <a:avLst>
              <a:gd name="adj" fmla="val 5147"/>
            </a:avLst>
          </a:prstGeom>
          <a:solidFill>
            <a:srgbClr val="F5F9F9"/>
          </a:solidFill>
          <a:ln w="15875">
            <a:solidFill>
              <a:srgbClr val="1C7D72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754112" y="4297680"/>
            <a:ext cx="3621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C7D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격차 진폭 1위</a:t>
            </a:r>
            <a:endParaRPr lang="en-US" sz="2300" dirty="0"/>
          </a:p>
        </p:txBody>
      </p:sp>
      <p:sp>
        <p:nvSpPr>
          <p:cNvPr id="18" name="Text 14"/>
          <p:cNvSpPr/>
          <p:nvPr/>
        </p:nvSpPr>
        <p:spPr>
          <a:xfrm>
            <a:off x="7754112" y="4773168"/>
            <a:ext cx="3621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출근 하차·퇴근 승차 쏠림 모두 최대 → 출퇴근 패턴 가장 뚜렷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5650992"/>
            <a:ext cx="11027664" cy="841248"/>
          </a:xfrm>
          <a:prstGeom prst="roundRect">
            <a:avLst>
              <a:gd name="adj" fmla="val 6522"/>
            </a:avLst>
          </a:prstGeom>
          <a:solidFill>
            <a:srgbClr val="0E3A4A"/>
          </a:solidFill>
          <a:ln/>
          <a:effectLst>
            <a:outerShdw blurRad="88900" dist="25400" dir="5400000" algn="bl" rotWithShape="0">
              <a:srgbClr val="0A2C39">
                <a:alpha val="16000"/>
              </a:srgbClr>
            </a:outerShdw>
          </a:effectLst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5907024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353312" y="5650992"/>
            <a:ext cx="99303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8FD4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 — </a:t>
            </a:r>
            <a:r>
              <a:rPr 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유동인구가 가장 많고 출퇴근 쏠림이 가장 뚜렷한 </a:t>
            </a: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2호선을 대표 </a:t>
            </a:r>
            <a:r>
              <a:rPr lang="en-US" sz="145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노선으로</a:t>
            </a: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5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선정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566928" y="6510528"/>
            <a:ext cx="1102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F75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서울교통공사 ‘서울 지하철 1~8호선 수송 통계’(2024~2025) 기준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2A9D8F"/>
          </a:solidFill>
          <a:ln/>
          <a:effectLst>
            <a:outerShdw blurRad="88900" dist="25400" dir="5400000" algn="bl" rotWithShape="0">
              <a:srgbClr val="0A2C39">
                <a:alpha val="16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420624"/>
            <a:ext cx="8595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[시간적 차등] 역별 유동인구·승하차 격차 패턴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8851392" y="512064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kern="0" spc="100" dirty="0">
                <a:solidFill>
                  <a:srgbClr val="2A9D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 · STATION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66928" y="1371600"/>
            <a:ext cx="5532120" cy="3205930"/>
          </a:xfrm>
          <a:prstGeom prst="roundRect">
            <a:avLst>
              <a:gd name="adj" fmla="val 1426"/>
            </a:avLst>
          </a:prstGeom>
          <a:solidFill>
            <a:srgbClr val="F5F9F9"/>
          </a:solidFill>
          <a:ln w="12700">
            <a:solidFill>
              <a:srgbClr val="D7E4E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1444752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강남·잠실·홍대입구 시간대별 총 유동인구</a:t>
            </a:r>
            <a:endParaRPr lang="en-US" sz="1250" dirty="0"/>
          </a:p>
        </p:txBody>
      </p:sp>
      <p:pic>
        <p:nvPicPr>
          <p:cNvPr id="8" name="Image 1" descr="img/tot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1792224"/>
            <a:ext cx="5349240" cy="265729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19088" y="1371600"/>
            <a:ext cx="5532120" cy="3205930"/>
          </a:xfrm>
          <a:prstGeom prst="roundRect">
            <a:avLst>
              <a:gd name="adj" fmla="val 1426"/>
            </a:avLst>
          </a:prstGeom>
          <a:solidFill>
            <a:srgbClr val="F5F9F9"/>
          </a:solidFill>
          <a:ln w="12700">
            <a:solidFill>
              <a:srgbClr val="D7E4E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510528" y="1444752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시간대별 일평균 승하차 격차 (승차 − 하차)</a:t>
            </a:r>
            <a:endParaRPr lang="en-US" sz="1250" dirty="0"/>
          </a:p>
        </p:txBody>
      </p:sp>
      <p:pic>
        <p:nvPicPr>
          <p:cNvPr id="11" name="Image 2" descr="img/g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1792224"/>
            <a:ext cx="5349240" cy="265729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66928" y="4742122"/>
            <a:ext cx="11384280" cy="1078992"/>
          </a:xfrm>
          <a:prstGeom prst="roundRect">
            <a:avLst>
              <a:gd name="adj" fmla="val 5085"/>
            </a:avLst>
          </a:prstGeom>
          <a:solidFill>
            <a:srgbClr val="EAF3F2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" y="5071306"/>
            <a:ext cx="420624" cy="42062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27048" y="4742122"/>
            <a:ext cx="979322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D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역마다 피크 시점·강도가 다르다.</a:t>
            </a:r>
            <a:r>
              <a:rPr lang="en-US" sz="14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강남역은 출근 시간 하차 집중(−), 퇴근 시간 승차 집중(+)이 </a:t>
            </a:r>
            <a:r>
              <a:rPr lang="en-US" sz="1400" dirty="0" err="1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뚜렷</a:t>
            </a:r>
            <a:r>
              <a:rPr lang="en-US" sz="14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</a:t>
            </a:r>
            <a:r>
              <a:rPr lang="en-US" sz="140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시간대뿐 아니라 ‘역별 맞춤’ 환기 운영이 필요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2A9D8F"/>
          </a:solidFill>
          <a:ln/>
          <a:effectLst>
            <a:outerShdw blurRad="88900" dist="25400" dir="5400000" algn="bl" rotWithShape="0">
              <a:srgbClr val="0A2C39">
                <a:alpha val="16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420624"/>
            <a:ext cx="8595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[통계 검증] 시간대 차이의 통계적 유의성 (t-test)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8851392" y="512064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kern="0" spc="100" dirty="0">
                <a:solidFill>
                  <a:srgbClr val="2A9D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STATISTICS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66928" y="1371600"/>
            <a:ext cx="5349240" cy="3063240"/>
          </a:xfrm>
          <a:prstGeom prst="roundRect">
            <a:avLst>
              <a:gd name="adj" fmla="val 1791"/>
            </a:avLst>
          </a:prstGeom>
          <a:solidFill>
            <a:srgbClr val="F5F9F9"/>
          </a:solidFill>
          <a:ln w="12700">
            <a:solidFill>
              <a:srgbClr val="D7E4E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77824" y="151790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D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검정 설계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77824" y="192024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귀무가설 H₀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77824" y="2194560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75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시간대 간 평균 유동인구에 차이가 없다.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77824" y="256032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대립가설 H₁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77824" y="2834640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75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출퇴근 시간대 유동인구는 비혼잡 시간대와 다르다.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77824" y="320040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검정 방법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77824" y="3474720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75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독립표본 t-검정 (출퇴근 vs 비혼잡 그룹)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77824" y="384048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기준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77824" y="4114800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75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유의수준 α = 0.05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245352" y="1371600"/>
            <a:ext cx="5532120" cy="3063240"/>
          </a:xfrm>
          <a:prstGeom prst="roundRect">
            <a:avLst>
              <a:gd name="adj" fmla="val 1791"/>
            </a:avLst>
          </a:prstGeom>
          <a:solidFill>
            <a:srgbClr val="F5F9F9"/>
          </a:solidFill>
          <a:ln w="12700">
            <a:solidFill>
              <a:srgbClr val="D7E4E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36792" y="148132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평일 변동폭이 높은 시간대별 빈도</a:t>
            </a:r>
            <a:endParaRPr lang="en-US" sz="1250" dirty="0"/>
          </a:p>
        </p:txBody>
      </p:sp>
      <p:pic>
        <p:nvPicPr>
          <p:cNvPr id="18" name="Image 1" descr="img/volatil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0762" y="1828800"/>
            <a:ext cx="4921301" cy="254000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4617720"/>
            <a:ext cx="11210544" cy="1481328"/>
          </a:xfrm>
          <a:prstGeom prst="roundRect">
            <a:avLst>
              <a:gd name="adj" fmla="val 3704"/>
            </a:avLst>
          </a:prstGeom>
          <a:solidFill>
            <a:srgbClr val="0E3A4A"/>
          </a:solidFill>
          <a:ln/>
          <a:effectLst>
            <a:outerShdw blurRad="88900" dist="25400" dir="5400000" algn="bl" rotWithShape="0">
              <a:srgbClr val="0A2C39">
                <a:alpha val="16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932688" y="47731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8FD4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검정 결과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932688" y="50292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 &lt; 0.001</a:t>
            </a:r>
            <a:endParaRPr lang="en-US" sz="4400" dirty="0"/>
          </a:p>
        </p:txBody>
      </p:sp>
      <p:sp>
        <p:nvSpPr>
          <p:cNvPr id="22" name="Shape 18"/>
          <p:cNvSpPr/>
          <p:nvPr/>
        </p:nvSpPr>
        <p:spPr>
          <a:xfrm>
            <a:off x="4590288" y="4892040"/>
            <a:ext cx="0" cy="914400"/>
          </a:xfrm>
          <a:prstGeom prst="line">
            <a:avLst/>
          </a:prstGeom>
          <a:noFill/>
          <a:ln w="19050">
            <a:solidFill>
              <a:srgbClr val="1C7D72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956048" y="4736592"/>
            <a:ext cx="636422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유의수준 0.05보다 작아 귀무가설(H₀) 기각.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8FD4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출퇴근 시간대의 유동인구 증가는 우연이 아니라 </a:t>
            </a: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통계적으로 유의미</a:t>
            </a:r>
            <a:r>
              <a:rPr lang="en-US" sz="1350" dirty="0">
                <a:solidFill>
                  <a:srgbClr val="8FD4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하다.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8FD4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시간 정보는 환기 운영의 핵심 변수로 반드시 활용되어야 한다.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2A9D8F"/>
          </a:solidFill>
          <a:ln/>
          <a:effectLst>
            <a:outerShdw blurRad="88900" dist="25400" dir="5400000" algn="bl" rotWithShape="0">
              <a:srgbClr val="0A2C39">
                <a:alpha val="16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420624"/>
            <a:ext cx="8595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[공간적 차등] 환기 집중 관리 대상 역사 TOP 10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8851392" y="512064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kern="0" spc="100" dirty="0">
                <a:solidFill>
                  <a:srgbClr val="2A9D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SPACE · WHERE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66928" y="1371600"/>
            <a:ext cx="7498080" cy="3294074"/>
          </a:xfrm>
          <a:prstGeom prst="roundRect">
            <a:avLst>
              <a:gd name="adj" fmla="val 1388"/>
            </a:avLst>
          </a:prstGeom>
          <a:solidFill>
            <a:srgbClr val="F5F9F9"/>
          </a:solidFill>
          <a:ln w="12700">
            <a:solidFill>
              <a:srgbClr val="D7E4E5"/>
            </a:solidFill>
            <a:prstDash val="solid"/>
          </a:ln>
        </p:spPr>
      </p:sp>
      <p:pic>
        <p:nvPicPr>
          <p:cNvPr id="7" name="Image 1" descr="img/top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1508760"/>
            <a:ext cx="7315200" cy="301975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385048" y="1371600"/>
            <a:ext cx="3209544" cy="1170432"/>
          </a:xfrm>
          <a:prstGeom prst="roundRect">
            <a:avLst>
              <a:gd name="adj" fmla="val 5469"/>
            </a:avLst>
          </a:prstGeom>
          <a:solidFill>
            <a:srgbClr val="F5F9F9"/>
          </a:solidFill>
          <a:ln w="15875">
            <a:solidFill>
              <a:srgbClr val="E76F51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586216" y="1591056"/>
            <a:ext cx="310896" cy="310896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0" name="Text 6"/>
          <p:cNvSpPr/>
          <p:nvPr/>
        </p:nvSpPr>
        <p:spPr>
          <a:xfrm>
            <a:off x="8988552" y="1517904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 5개역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8604504" y="1901952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75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강남·고속터미널·홍대입구·서울역·사당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8604504" y="2194560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환기 </a:t>
            </a:r>
            <a:r>
              <a:rPr lang="en-US" sz="1250" b="1" dirty="0" err="1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용량</a:t>
            </a:r>
            <a:r>
              <a:rPr lang="en-US" sz="1250" b="1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50" b="1" dirty="0" err="1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상향</a:t>
            </a:r>
            <a:r>
              <a:rPr lang="en-US" sz="1250" b="1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 </a:t>
            </a:r>
            <a:r>
              <a:rPr lang="en-US" altLang="ko-KR" sz="1250" b="1" dirty="0" err="1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</a:rPr>
              <a:t>피크</a:t>
            </a:r>
            <a:r>
              <a:rPr lang="en-US" altLang="ko-KR" sz="1250" b="1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1250" b="1" dirty="0" err="1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</a:rPr>
              <a:t>집중</a:t>
            </a:r>
            <a:r>
              <a:rPr lang="en-US" altLang="ko-KR" sz="1250" b="1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1250" b="1" dirty="0" err="1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</a:rPr>
              <a:t>가동</a:t>
            </a:r>
            <a:endParaRPr lang="en-US" sz="1250" b="1" dirty="0">
              <a:solidFill>
                <a:srgbClr val="E76F51"/>
              </a:solidFill>
              <a:latin typeface="Malgun Gothic" pitchFamily="34" charset="0"/>
              <a:ea typeface="Malgun Gothic" pitchFamily="34" charset="-122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8385048" y="2670048"/>
            <a:ext cx="3209544" cy="1170432"/>
          </a:xfrm>
          <a:prstGeom prst="roundRect">
            <a:avLst>
              <a:gd name="adj" fmla="val 5469"/>
            </a:avLst>
          </a:prstGeom>
          <a:solidFill>
            <a:srgbClr val="F5F9F9"/>
          </a:solidFill>
          <a:ln w="15875">
            <a:solidFill>
              <a:srgbClr val="E9A23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586216" y="2889504"/>
            <a:ext cx="310896" cy="310896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5" name="Text 11"/>
          <p:cNvSpPr/>
          <p:nvPr/>
        </p:nvSpPr>
        <p:spPr>
          <a:xfrm>
            <a:off x="8988552" y="2816352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중위 역사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8604504" y="3200400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75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잠실·신림·선릉 등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8604504" y="3493008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9A2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피크 집중 가동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385048" y="3968496"/>
            <a:ext cx="3209544" cy="1170432"/>
          </a:xfrm>
          <a:prstGeom prst="roundRect">
            <a:avLst>
              <a:gd name="adj" fmla="val 5469"/>
            </a:avLst>
          </a:prstGeom>
          <a:solidFill>
            <a:srgbClr val="F5F9F9"/>
          </a:solidFill>
          <a:ln w="15875">
            <a:solidFill>
              <a:srgbClr val="2A9D8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586216" y="4187952"/>
            <a:ext cx="310896" cy="31089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0" name="Text 16"/>
          <p:cNvSpPr/>
          <p:nvPr/>
        </p:nvSpPr>
        <p:spPr>
          <a:xfrm>
            <a:off x="8988552" y="411480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하위·외곽 역사</a:t>
            </a:r>
            <a:endParaRPr lang="en-US" sz="1450" dirty="0"/>
          </a:p>
        </p:txBody>
      </p:sp>
      <p:sp>
        <p:nvSpPr>
          <p:cNvPr id="21" name="Text 17"/>
          <p:cNvSpPr/>
          <p:nvPr/>
        </p:nvSpPr>
        <p:spPr>
          <a:xfrm>
            <a:off x="8604504" y="4498848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75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유동인구 적은 일반역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8604504" y="4791456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9D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스케줄 최적화·절감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566928" y="5440680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F75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누적 총 유동인구(실제 통계) 기준 우선순위 — 추가 비용 없이 기존 승하차 데이터만으로 도출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2A9D8F"/>
          </a:solidFill>
          <a:ln/>
          <a:effectLst>
            <a:outerShdw blurRad="88900" dist="25400" dir="5400000" algn="bl" rotWithShape="0">
              <a:srgbClr val="0A2C39">
                <a:alpha val="16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420624"/>
            <a:ext cx="8595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결론 정리 (민토 피라미드)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8851392" y="512064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kern="0" spc="100" dirty="0">
                <a:solidFill>
                  <a:srgbClr val="2A9D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2331720" y="1298448"/>
            <a:ext cx="7498080" cy="841248"/>
          </a:xfrm>
          <a:prstGeom prst="roundRect">
            <a:avLst>
              <a:gd name="adj" fmla="val 7609"/>
            </a:avLst>
          </a:prstGeom>
          <a:solidFill>
            <a:srgbClr val="0E3A4A"/>
          </a:solidFill>
          <a:ln/>
          <a:effectLst>
            <a:outerShdw blurRad="88900" dist="25400" dir="5400000" algn="bl" rotWithShape="0">
              <a:srgbClr val="0A2C39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331720" y="1298448"/>
            <a:ext cx="7498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FD4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결론   </a:t>
            </a: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기반 시·공간 차등 제어로 환기 효율 및 공기질 극대화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313432" y="2139696"/>
            <a:ext cx="0" cy="557784"/>
          </a:xfrm>
          <a:prstGeom prst="line">
            <a:avLst/>
          </a:prstGeom>
          <a:noFill/>
          <a:ln w="15875">
            <a:solidFill>
              <a:srgbClr val="D7E4E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" y="2697480"/>
            <a:ext cx="3493008" cy="841248"/>
          </a:xfrm>
          <a:prstGeom prst="roundRect">
            <a:avLst>
              <a:gd name="adj" fmla="val 7609"/>
            </a:avLst>
          </a:prstGeom>
          <a:solidFill>
            <a:srgbClr val="2A9D8F"/>
          </a:solidFill>
          <a:ln/>
        </p:spPr>
      </p:sp>
      <p:sp>
        <p:nvSpPr>
          <p:cNvPr id="10" name="Text 7"/>
          <p:cNvSpPr/>
          <p:nvPr/>
        </p:nvSpPr>
        <p:spPr>
          <a:xfrm>
            <a:off x="566928" y="2807208"/>
            <a:ext cx="3493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시간적 차등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66928" y="3154680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출퇴근 피크 타임 집중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66928" y="3721608"/>
            <a:ext cx="3493008" cy="841248"/>
          </a:xfrm>
          <a:prstGeom prst="roundRect">
            <a:avLst>
              <a:gd name="adj" fmla="val 6522"/>
            </a:avLst>
          </a:prstGeom>
          <a:solidFill>
            <a:srgbClr val="F5F9F9"/>
          </a:solidFill>
          <a:ln w="12700">
            <a:solidFill>
              <a:srgbClr val="D7E4E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9808" y="3849624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9D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[Peak 모드]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49808" y="4160520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출퇴근 2시간 최대 가동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66928" y="4672584"/>
            <a:ext cx="3493008" cy="841248"/>
          </a:xfrm>
          <a:prstGeom prst="roundRect">
            <a:avLst>
              <a:gd name="adj" fmla="val 6522"/>
            </a:avLst>
          </a:prstGeom>
          <a:solidFill>
            <a:srgbClr val="F5F9F9"/>
          </a:solidFill>
          <a:ln w="12700">
            <a:solidFill>
              <a:srgbClr val="D7E4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9808" y="4800600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9D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[Eco 모드]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49808" y="5111496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낮·심야 공백 최소 가동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080760" y="2139696"/>
            <a:ext cx="0" cy="557784"/>
          </a:xfrm>
          <a:prstGeom prst="line">
            <a:avLst/>
          </a:prstGeom>
          <a:noFill/>
          <a:ln w="15875">
            <a:solidFill>
              <a:srgbClr val="D7E4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334256" y="2697480"/>
            <a:ext cx="3493008" cy="841248"/>
          </a:xfrm>
          <a:prstGeom prst="roundRect">
            <a:avLst>
              <a:gd name="adj" fmla="val 7609"/>
            </a:avLst>
          </a:prstGeom>
          <a:solidFill>
            <a:srgbClr val="E9A23B"/>
          </a:solidFill>
          <a:ln/>
        </p:spPr>
      </p:sp>
      <p:sp>
        <p:nvSpPr>
          <p:cNvPr id="20" name="Text 17"/>
          <p:cNvSpPr/>
          <p:nvPr/>
        </p:nvSpPr>
        <p:spPr>
          <a:xfrm>
            <a:off x="4334256" y="2807208"/>
            <a:ext cx="3493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공간적 차등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334256" y="3154680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고혼잡 핵심 역사 타겟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334256" y="3721608"/>
            <a:ext cx="3493008" cy="841248"/>
          </a:xfrm>
          <a:prstGeom prst="roundRect">
            <a:avLst>
              <a:gd name="adj" fmla="val 6522"/>
            </a:avLst>
          </a:prstGeom>
          <a:solidFill>
            <a:srgbClr val="F5F9F9"/>
          </a:solidFill>
          <a:ln w="12700">
            <a:solidFill>
              <a:srgbClr val="D7E4E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17136" y="3849624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9A2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[상위 5개역]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4517136" y="4160520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강남·잠실 등 용량 상향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334256" y="4672584"/>
            <a:ext cx="3493008" cy="841248"/>
          </a:xfrm>
          <a:prstGeom prst="roundRect">
            <a:avLst>
              <a:gd name="adj" fmla="val 6522"/>
            </a:avLst>
          </a:prstGeom>
          <a:solidFill>
            <a:srgbClr val="F5F9F9"/>
          </a:solidFill>
          <a:ln w="12700">
            <a:solidFill>
              <a:srgbClr val="D7E4E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17136" y="4800600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9A2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[하위 역사]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4517136" y="5111496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일반·외곽역 스케줄 최적화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9848088" y="2139696"/>
            <a:ext cx="0" cy="557784"/>
          </a:xfrm>
          <a:prstGeom prst="line">
            <a:avLst/>
          </a:prstGeom>
          <a:noFill/>
          <a:ln w="15875">
            <a:solidFill>
              <a:srgbClr val="D7E4E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101584" y="2697480"/>
            <a:ext cx="3493008" cy="841248"/>
          </a:xfrm>
          <a:prstGeom prst="roundRect">
            <a:avLst>
              <a:gd name="adj" fmla="val 7609"/>
            </a:avLst>
          </a:prstGeom>
          <a:solidFill>
            <a:srgbClr val="E76F51"/>
          </a:solidFill>
          <a:ln/>
        </p:spPr>
      </p:sp>
      <p:sp>
        <p:nvSpPr>
          <p:cNvPr id="30" name="Text 27"/>
          <p:cNvSpPr/>
          <p:nvPr/>
        </p:nvSpPr>
        <p:spPr>
          <a:xfrm>
            <a:off x="8101584" y="2807208"/>
            <a:ext cx="3493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기대 효과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8101584" y="3154680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 절감 및 선제 제어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8101584" y="3721608"/>
            <a:ext cx="3493008" cy="841248"/>
          </a:xfrm>
          <a:prstGeom prst="roundRect">
            <a:avLst>
              <a:gd name="adj" fmla="val 6522"/>
            </a:avLst>
          </a:prstGeom>
          <a:solidFill>
            <a:srgbClr val="F5F9F9"/>
          </a:solidFill>
          <a:ln w="12700">
            <a:solidFill>
              <a:srgbClr val="D7E4E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284464" y="3849624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[에너지 절감]</a:t>
            </a:r>
            <a:endParaRPr lang="en-US" sz="1350" dirty="0"/>
          </a:p>
        </p:txBody>
      </p:sp>
      <p:sp>
        <p:nvSpPr>
          <p:cNvPr id="34" name="Text 31"/>
          <p:cNvSpPr/>
          <p:nvPr/>
        </p:nvSpPr>
        <p:spPr>
          <a:xfrm>
            <a:off x="8284464" y="4160520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불필요 가동 트래픽 차단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8101584" y="4672584"/>
            <a:ext cx="3493008" cy="841248"/>
          </a:xfrm>
          <a:prstGeom prst="roundRect">
            <a:avLst>
              <a:gd name="adj" fmla="val 6522"/>
            </a:avLst>
          </a:prstGeom>
          <a:solidFill>
            <a:srgbClr val="F5F9F9"/>
          </a:solidFill>
          <a:ln w="12700">
            <a:solidFill>
              <a:srgbClr val="D7E4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284464" y="4800600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[추가비용 無]</a:t>
            </a:r>
            <a:endParaRPr lang="en-US" sz="1350" dirty="0"/>
          </a:p>
        </p:txBody>
      </p:sp>
      <p:sp>
        <p:nvSpPr>
          <p:cNvPr id="37" name="Text 34"/>
          <p:cNvSpPr/>
          <p:nvPr/>
        </p:nvSpPr>
        <p:spPr>
          <a:xfrm>
            <a:off x="8284464" y="5111496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승하차 데이터 활용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2A9D8F"/>
          </a:solidFill>
          <a:ln/>
          <a:effectLst>
            <a:outerShdw blurRad="88900" dist="25400" dir="5400000" algn="bl" rotWithShape="0">
              <a:srgbClr val="0A2C39">
                <a:alpha val="16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420624"/>
            <a:ext cx="8595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솔루션: 시·공간 차등형 스마트 환기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8851392" y="512064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kern="0" spc="100" dirty="0">
                <a:solidFill>
                  <a:srgbClr val="2A9D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SOLUTION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66928" y="1371600"/>
            <a:ext cx="5394960" cy="3154680"/>
          </a:xfrm>
          <a:prstGeom prst="roundRect">
            <a:avLst>
              <a:gd name="adj" fmla="val 2029"/>
            </a:avLst>
          </a:prstGeom>
          <a:solidFill>
            <a:srgbClr val="F5F9F9"/>
          </a:solidFill>
          <a:ln w="12700">
            <a:solidFill>
              <a:srgbClr val="D7E4E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572768"/>
            <a:ext cx="512064" cy="512064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1719072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81328" y="1627632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시간 차등 (When)</a:t>
            </a:r>
            <a:endParaRPr lang="en-US" sz="1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2368296"/>
            <a:ext cx="292608" cy="2926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53312" y="229514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A9D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Peak 모드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1353312" y="262432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출퇴근 2시간(08–09 / 18–19시) 최대 가동 — 혼잡 시 최적 공기질 확보</a:t>
            </a:r>
            <a:endParaRPr lang="en-US" sz="12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" y="3374136"/>
            <a:ext cx="292608" cy="29260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53312" y="330098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A9D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Eco 모드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1353312" y="363016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낮·심야 여유 구간 최소 가동 — 불필요 에너지 차단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6199632" y="1371600"/>
            <a:ext cx="5394960" cy="3154680"/>
          </a:xfrm>
          <a:prstGeom prst="roundRect">
            <a:avLst>
              <a:gd name="adj" fmla="val 2029"/>
            </a:avLst>
          </a:prstGeom>
          <a:solidFill>
            <a:srgbClr val="F5F9F9"/>
          </a:solidFill>
          <a:ln w="12700">
            <a:solidFill>
              <a:srgbClr val="D7E4E5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6473952" y="1572768"/>
            <a:ext cx="512064" cy="512064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0256" y="1719072"/>
            <a:ext cx="219456" cy="21945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114032" y="1627632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공간 차등 (Where)</a:t>
            </a:r>
            <a:endParaRPr lang="en-US" sz="17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0528" y="2368296"/>
            <a:ext cx="292608" cy="29260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986016" y="229514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고혼잡역 용량 상향</a:t>
            </a:r>
            <a:endParaRPr lang="en-US" sz="1450" dirty="0"/>
          </a:p>
        </p:txBody>
      </p:sp>
      <p:sp>
        <p:nvSpPr>
          <p:cNvPr id="22" name="Text 14"/>
          <p:cNvSpPr/>
          <p:nvPr/>
        </p:nvSpPr>
        <p:spPr>
          <a:xfrm>
            <a:off x="6986016" y="262432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강남·고속터미널·홍대입구 등 상위 5개역 집중 관리</a:t>
            </a:r>
            <a:endParaRPr lang="en-US" sz="125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0528" y="3374136"/>
            <a:ext cx="292608" cy="29260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986016" y="330098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76F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일반역 스케줄 최적화</a:t>
            </a:r>
            <a:endParaRPr lang="en-US" sz="1450" dirty="0"/>
          </a:p>
        </p:txBody>
      </p:sp>
      <p:sp>
        <p:nvSpPr>
          <p:cNvPr id="25" name="Text 16"/>
          <p:cNvSpPr/>
          <p:nvPr/>
        </p:nvSpPr>
        <p:spPr>
          <a:xfrm>
            <a:off x="6986016" y="363016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외곽·저밀도 역사는 수요 맞춤 운영으로 비용 절감</a:t>
            </a:r>
            <a:endParaRPr lang="en-US" sz="1250" dirty="0"/>
          </a:p>
        </p:txBody>
      </p:sp>
      <p:sp>
        <p:nvSpPr>
          <p:cNvPr id="26" name="Shape 17"/>
          <p:cNvSpPr/>
          <p:nvPr/>
        </p:nvSpPr>
        <p:spPr>
          <a:xfrm>
            <a:off x="566928" y="4709160"/>
            <a:ext cx="5029200" cy="1325880"/>
          </a:xfrm>
          <a:prstGeom prst="roundRect">
            <a:avLst>
              <a:gd name="adj" fmla="val 4138"/>
            </a:avLst>
          </a:prstGeom>
          <a:solidFill>
            <a:srgbClr val="EAF3F2"/>
          </a:solidFill>
          <a:ln/>
        </p:spPr>
      </p:sp>
      <p:sp>
        <p:nvSpPr>
          <p:cNvPr id="27" name="Text 18"/>
          <p:cNvSpPr/>
          <p:nvPr/>
        </p:nvSpPr>
        <p:spPr>
          <a:xfrm>
            <a:off x="841248" y="486460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F75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— 사후 대응</a:t>
            </a:r>
            <a:endParaRPr lang="en-US" sz="1250" dirty="0"/>
          </a:p>
        </p:txBody>
      </p:sp>
      <p:sp>
        <p:nvSpPr>
          <p:cNvPr id="28" name="Text 19"/>
          <p:cNvSpPr/>
          <p:nvPr/>
        </p:nvSpPr>
        <p:spPr>
          <a:xfrm>
            <a:off x="841248" y="5193792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몰린 뒤에 센서가 반응 → 이미 혼잡 시작</a:t>
            </a:r>
            <a:endParaRPr lang="en-US" sz="130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42432" y="5230368"/>
            <a:ext cx="384048" cy="384048"/>
          </a:xfrm>
          <a:prstGeom prst="rect">
            <a:avLst/>
          </a:prstGeom>
        </p:spPr>
      </p:pic>
      <p:sp>
        <p:nvSpPr>
          <p:cNvPr id="30" name="Shape 20"/>
          <p:cNvSpPr/>
          <p:nvPr/>
        </p:nvSpPr>
        <p:spPr>
          <a:xfrm>
            <a:off x="6291072" y="4709160"/>
            <a:ext cx="5303520" cy="1325880"/>
          </a:xfrm>
          <a:prstGeom prst="roundRect">
            <a:avLst>
              <a:gd name="adj" fmla="val 4138"/>
            </a:avLst>
          </a:prstGeom>
          <a:solidFill>
            <a:srgbClr val="2A9D8F"/>
          </a:solidFill>
          <a:ln/>
          <a:effectLst>
            <a:outerShdw blurRad="88900" dist="25400" dir="5400000" algn="bl" rotWithShape="0">
              <a:srgbClr val="0A2C39">
                <a:alpha val="16000"/>
              </a:srgbClr>
            </a:outerShdw>
          </a:effectLst>
        </p:spPr>
      </p:sp>
      <p:sp>
        <p:nvSpPr>
          <p:cNvPr id="31" name="Text 21"/>
          <p:cNvSpPr/>
          <p:nvPr/>
        </p:nvSpPr>
        <p:spPr>
          <a:xfrm>
            <a:off x="6565392" y="486460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FD4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— 선제 대응</a:t>
            </a:r>
            <a:endParaRPr lang="en-US" sz="1250" dirty="0"/>
          </a:p>
        </p:txBody>
      </p:sp>
      <p:sp>
        <p:nvSpPr>
          <p:cNvPr id="32" name="Text 22"/>
          <p:cNvSpPr/>
          <p:nvPr/>
        </p:nvSpPr>
        <p:spPr>
          <a:xfrm>
            <a:off x="6565392" y="5193792"/>
            <a:ext cx="4718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예측으로 혼잡 ‘전에’ 환기 선가동 → 항상 쾌적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2A9D8F"/>
          </a:solidFill>
          <a:ln/>
          <a:effectLst>
            <a:outerShdw blurRad="88900" dist="25400" dir="5400000" algn="bl" rotWithShape="0">
              <a:srgbClr val="0A2C39">
                <a:alpha val="16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420624"/>
            <a:ext cx="8595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 Plan: AI 기반 선제적 환기 운영 시스템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8851392" y="512064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kern="0" spc="100" dirty="0">
                <a:solidFill>
                  <a:srgbClr val="2A9D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 PLAN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66928" y="1325880"/>
            <a:ext cx="5394960" cy="1737360"/>
          </a:xfrm>
          <a:prstGeom prst="roundRect">
            <a:avLst>
              <a:gd name="adj" fmla="val 3158"/>
            </a:avLst>
          </a:prstGeom>
          <a:solidFill>
            <a:srgbClr val="F5F9F9"/>
          </a:solidFill>
          <a:ln w="12700">
            <a:solidFill>
              <a:srgbClr val="D7E4E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1248" y="146304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5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방식 (사후 대응)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41248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승객 증가  →  센서 감지  →  환기 가동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41248" y="23317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75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혼잡이 시작된 뒤에야 대응이 이루어진다.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99632" y="1325880"/>
            <a:ext cx="5394960" cy="1737360"/>
          </a:xfrm>
          <a:prstGeom prst="roundRect">
            <a:avLst>
              <a:gd name="adj" fmla="val 3158"/>
            </a:avLst>
          </a:prstGeom>
          <a:solidFill>
            <a:srgbClr val="2A9D8F"/>
          </a:solidFill>
          <a:ln/>
          <a:effectLst>
            <a:outerShdw blurRad="88900" dist="25400" dir="5400000" algn="bl" rotWithShape="0">
              <a:srgbClr val="0A2C39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73952" y="146304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D4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방식 (선제 대응)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73952" y="1828800"/>
            <a:ext cx="4901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예측  →  08시 강남 혼잡 예상  →  07:50 선가동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73952" y="2331720"/>
            <a:ext cx="4901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D4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혼잡 발생 시점에 이미 최적 공기질을 유지한다.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66928" y="324612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F75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프로세스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66928" y="3703320"/>
            <a:ext cx="1869034" cy="2148840"/>
          </a:xfrm>
          <a:prstGeom prst="roundRect">
            <a:avLst>
              <a:gd name="adj" fmla="val 3914"/>
            </a:avLst>
          </a:prstGeom>
          <a:solidFill>
            <a:srgbClr val="F5F9F9"/>
          </a:solidFill>
          <a:ln w="12700">
            <a:solidFill>
              <a:srgbClr val="D7E4E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181405" y="3941064"/>
            <a:ext cx="640080" cy="64008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5997" y="410565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66928" y="4672584"/>
            <a:ext cx="1869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7D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21792" y="4946904"/>
            <a:ext cx="17593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수집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640080" y="5294376"/>
            <a:ext cx="17227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5F75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승하차 데이터 축적</a:t>
            </a:r>
            <a:endParaRPr lang="en-US" sz="105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4834" y="4686300"/>
            <a:ext cx="182880" cy="18288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2856586" y="3703320"/>
            <a:ext cx="1869034" cy="2148840"/>
          </a:xfrm>
          <a:prstGeom prst="roundRect">
            <a:avLst>
              <a:gd name="adj" fmla="val 3914"/>
            </a:avLst>
          </a:prstGeom>
          <a:solidFill>
            <a:srgbClr val="F5F9F9"/>
          </a:solidFill>
          <a:ln w="12700">
            <a:solidFill>
              <a:srgbClr val="D7E4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3471062" y="3941064"/>
            <a:ext cx="640080" cy="64008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5654" y="4105656"/>
            <a:ext cx="310896" cy="31089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2856586" y="4672584"/>
            <a:ext cx="1869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7D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2911450" y="4946904"/>
            <a:ext cx="17593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모델 생성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2929738" y="5294376"/>
            <a:ext cx="17227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5F75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이용객 예측 모델 학습</a:t>
            </a:r>
            <a:endParaRPr lang="en-US" sz="105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4491" y="4686300"/>
            <a:ext cx="182880" cy="182880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5146243" y="3703320"/>
            <a:ext cx="1869034" cy="2148840"/>
          </a:xfrm>
          <a:prstGeom prst="roundRect">
            <a:avLst>
              <a:gd name="adj" fmla="val 3914"/>
            </a:avLst>
          </a:prstGeom>
          <a:solidFill>
            <a:srgbClr val="F5F9F9"/>
          </a:solidFill>
          <a:ln w="12700">
            <a:solidFill>
              <a:srgbClr val="D7E4E5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5760720" y="3941064"/>
            <a:ext cx="640080" cy="64008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25312" y="4105656"/>
            <a:ext cx="310896" cy="31089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146243" y="4672584"/>
            <a:ext cx="1869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7D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5201107" y="4946904"/>
            <a:ext cx="17593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혼잡도 예측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5219395" y="5294376"/>
            <a:ext cx="17227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5F75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시간대별 역별 혼잡 예측</a:t>
            </a:r>
            <a:endParaRPr lang="en-US" sz="1050" dirty="0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4149" y="4686300"/>
            <a:ext cx="182880" cy="182880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7435901" y="3703320"/>
            <a:ext cx="1869034" cy="2148840"/>
          </a:xfrm>
          <a:prstGeom prst="roundRect">
            <a:avLst>
              <a:gd name="adj" fmla="val 3914"/>
            </a:avLst>
          </a:prstGeom>
          <a:solidFill>
            <a:srgbClr val="F5F9F9"/>
          </a:solidFill>
          <a:ln w="12700">
            <a:solidFill>
              <a:srgbClr val="D7E4E5"/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8050378" y="3941064"/>
            <a:ext cx="640080" cy="64008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4970" y="4105656"/>
            <a:ext cx="310896" cy="310896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7435901" y="4672584"/>
            <a:ext cx="1869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7D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</a:t>
            </a:r>
            <a:endParaRPr lang="en-US" sz="1050" dirty="0"/>
          </a:p>
        </p:txBody>
      </p:sp>
      <p:sp>
        <p:nvSpPr>
          <p:cNvPr id="40" name="Text 30"/>
          <p:cNvSpPr/>
          <p:nvPr/>
        </p:nvSpPr>
        <p:spPr>
          <a:xfrm>
            <a:off x="7490765" y="4946904"/>
            <a:ext cx="17593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제어</a:t>
            </a:r>
            <a:endParaRPr lang="en-US" sz="1350" dirty="0"/>
          </a:p>
        </p:txBody>
      </p:sp>
      <p:sp>
        <p:nvSpPr>
          <p:cNvPr id="41" name="Text 31"/>
          <p:cNvSpPr/>
          <p:nvPr/>
        </p:nvSpPr>
        <p:spPr>
          <a:xfrm>
            <a:off x="7509053" y="5294376"/>
            <a:ext cx="17227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5F75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환기 시스템 선제 제어</a:t>
            </a:r>
            <a:endParaRPr lang="en-US" sz="1050" dirty="0"/>
          </a:p>
        </p:txBody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3806" y="4686300"/>
            <a:ext cx="182880" cy="182880"/>
          </a:xfrm>
          <a:prstGeom prst="rect">
            <a:avLst/>
          </a:prstGeom>
        </p:spPr>
      </p:pic>
      <p:sp>
        <p:nvSpPr>
          <p:cNvPr id="43" name="Shape 32"/>
          <p:cNvSpPr/>
          <p:nvPr/>
        </p:nvSpPr>
        <p:spPr>
          <a:xfrm>
            <a:off x="9725558" y="3703320"/>
            <a:ext cx="1869034" cy="2148840"/>
          </a:xfrm>
          <a:prstGeom prst="roundRect">
            <a:avLst>
              <a:gd name="adj" fmla="val 3914"/>
            </a:avLst>
          </a:prstGeom>
          <a:solidFill>
            <a:srgbClr val="F5F9F9"/>
          </a:solidFill>
          <a:ln w="12700">
            <a:solidFill>
              <a:srgbClr val="D7E4E5"/>
            </a:solidFill>
            <a:prstDash val="solid"/>
          </a:ln>
        </p:spPr>
      </p:sp>
      <p:sp>
        <p:nvSpPr>
          <p:cNvPr id="44" name="Shape 33"/>
          <p:cNvSpPr/>
          <p:nvPr/>
        </p:nvSpPr>
        <p:spPr>
          <a:xfrm>
            <a:off x="10340035" y="3941064"/>
            <a:ext cx="640080" cy="64008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45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04627" y="4105656"/>
            <a:ext cx="310896" cy="310896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9725558" y="4672584"/>
            <a:ext cx="1869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7D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</a:t>
            </a:r>
            <a:endParaRPr lang="en-US" sz="1050" dirty="0"/>
          </a:p>
        </p:txBody>
      </p:sp>
      <p:sp>
        <p:nvSpPr>
          <p:cNvPr id="47" name="Text 35"/>
          <p:cNvSpPr/>
          <p:nvPr/>
        </p:nvSpPr>
        <p:spPr>
          <a:xfrm>
            <a:off x="9780422" y="4946904"/>
            <a:ext cx="17593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모니터링</a:t>
            </a:r>
            <a:endParaRPr lang="en-US" sz="1350" dirty="0"/>
          </a:p>
        </p:txBody>
      </p:sp>
      <p:sp>
        <p:nvSpPr>
          <p:cNvPr id="48" name="Text 36"/>
          <p:cNvSpPr/>
          <p:nvPr/>
        </p:nvSpPr>
        <p:spPr>
          <a:xfrm>
            <a:off x="9798710" y="5294376"/>
            <a:ext cx="17227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5F75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전력·공기질 상시 점검</a:t>
            </a:r>
            <a:endParaRPr lang="en-US" sz="1050" dirty="0"/>
          </a:p>
        </p:txBody>
      </p:sp>
      <p:sp>
        <p:nvSpPr>
          <p:cNvPr id="49" name="Shape 7">
            <a:extLst>
              <a:ext uri="{FF2B5EF4-FFF2-40B4-BE49-F238E27FC236}">
                <a16:creationId xmlns:a16="http://schemas.microsoft.com/office/drawing/2014/main" id="{E6F08A1A-1386-4F4F-8546-5214F811CCBA}"/>
              </a:ext>
            </a:extLst>
          </p:cNvPr>
          <p:cNvSpPr/>
          <p:nvPr/>
        </p:nvSpPr>
        <p:spPr>
          <a:xfrm>
            <a:off x="566928" y="5980176"/>
            <a:ext cx="11027664" cy="512064"/>
          </a:xfrm>
          <a:prstGeom prst="roundRect">
            <a:avLst>
              <a:gd name="adj" fmla="val 5085"/>
            </a:avLst>
          </a:prstGeom>
          <a:solidFill>
            <a:srgbClr val="EAF3F2"/>
          </a:solidFill>
          <a:ln/>
        </p:spPr>
      </p:sp>
      <p:pic>
        <p:nvPicPr>
          <p:cNvPr id="50" name="Image 3" descr="preencoded.png">
            <a:extLst>
              <a:ext uri="{FF2B5EF4-FFF2-40B4-BE49-F238E27FC236}">
                <a16:creationId xmlns:a16="http://schemas.microsoft.com/office/drawing/2014/main" id="{8A9EFEE9-E183-4031-8632-A803DAA8B45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7824" y="6019574"/>
            <a:ext cx="420624" cy="420624"/>
          </a:xfrm>
          <a:prstGeom prst="rect">
            <a:avLst/>
          </a:prstGeom>
        </p:spPr>
      </p:pic>
      <p:sp>
        <p:nvSpPr>
          <p:cNvPr id="53" name="Text 8">
            <a:extLst>
              <a:ext uri="{FF2B5EF4-FFF2-40B4-BE49-F238E27FC236}">
                <a16:creationId xmlns:a16="http://schemas.microsoft.com/office/drawing/2014/main" id="{8590995F-674A-4A77-9957-1C29737FF37D}"/>
              </a:ext>
            </a:extLst>
          </p:cNvPr>
          <p:cNvSpPr/>
          <p:nvPr/>
        </p:nvSpPr>
        <p:spPr>
          <a:xfrm>
            <a:off x="1357714" y="5724261"/>
            <a:ext cx="979322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20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</a:rPr>
              <a:t>운영 안정성 확보를 위해 </a:t>
            </a:r>
            <a:r>
              <a:rPr lang="en-US" altLang="ko-KR" sz="120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</a:rPr>
              <a:t>2</a:t>
            </a:r>
            <a:r>
              <a:rPr lang="ko-KR" altLang="en-US" sz="120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</a:rPr>
              <a:t>호선 순차 테스트를 선행하고</a:t>
            </a:r>
            <a:r>
              <a:rPr lang="en-US" altLang="ko-KR" sz="120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</a:rPr>
              <a:t>, </a:t>
            </a:r>
            <a:r>
              <a:rPr lang="ko-KR" altLang="en-US" sz="120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</a:rPr>
              <a:t>성공적인 검증 이후 전 역으로 시스템을 확대 적용할 계획입니다</a:t>
            </a:r>
            <a:r>
              <a:rPr lang="en-US" altLang="ko-KR" sz="1200" b="1" dirty="0">
                <a:solidFill>
                  <a:srgbClr val="16282F"/>
                </a:solidFill>
                <a:latin typeface="Malgun Gothic" pitchFamily="34" charset="0"/>
                <a:ea typeface="Malgun Gothic" pitchFamily="34" charset="-122"/>
              </a:rPr>
              <a:t>.</a:t>
            </a:r>
            <a:endParaRPr lang="en-US" sz="1200" b="1" dirty="0">
              <a:solidFill>
                <a:srgbClr val="16282F"/>
              </a:solidFill>
              <a:latin typeface="Malgun Gothic" pitchFamily="34" charset="0"/>
              <a:ea typeface="Malgun Gothic" pitchFamily="3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3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371600"/>
            <a:ext cx="3474720" cy="3474720"/>
          </a:xfrm>
          <a:prstGeom prst="ellipse">
            <a:avLst/>
          </a:prstGeom>
          <a:solidFill>
            <a:srgbClr val="2A9D8F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572000"/>
            <a:ext cx="2926080" cy="2926080"/>
          </a:xfrm>
          <a:prstGeom prst="ellipse">
            <a:avLst/>
          </a:prstGeom>
          <a:solidFill>
            <a:srgbClr val="E76F51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6400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기대효과 및 결론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23444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D4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EXPECTED IMPACT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1874520"/>
            <a:ext cx="3493008" cy="2377440"/>
          </a:xfrm>
          <a:prstGeom prst="roundRect">
            <a:avLst>
              <a:gd name="adj" fmla="val 3077"/>
            </a:avLst>
          </a:prstGeom>
          <a:solidFill>
            <a:srgbClr val="0A2C39"/>
          </a:solidFill>
          <a:ln w="12700">
            <a:solidFill>
              <a:srgbClr val="1C4F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" y="2185416"/>
            <a:ext cx="786384" cy="786384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" y="2414016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77824" y="3118104"/>
            <a:ext cx="2871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 절감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77824" y="353872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FD4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유동인구 적은 시간·역의 불필요한 환기 가동을 차단해 운영비를 줄인다.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34256" y="1874520"/>
            <a:ext cx="3493008" cy="2377440"/>
          </a:xfrm>
          <a:prstGeom prst="roundRect">
            <a:avLst>
              <a:gd name="adj" fmla="val 3077"/>
            </a:avLst>
          </a:prstGeom>
          <a:solidFill>
            <a:srgbClr val="0A2C39"/>
          </a:solidFill>
          <a:ln w="12700">
            <a:solidFill>
              <a:srgbClr val="1C4F6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45152" y="2185416"/>
            <a:ext cx="786384" cy="786384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2414016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45152" y="3118104"/>
            <a:ext cx="2871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비용 無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645152" y="353872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FD4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센서 없이 기존 승하차 데이터만으로 도입 가능하다.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101584" y="1874520"/>
            <a:ext cx="3493008" cy="2377440"/>
          </a:xfrm>
          <a:prstGeom prst="roundRect">
            <a:avLst>
              <a:gd name="adj" fmla="val 3077"/>
            </a:avLst>
          </a:prstGeom>
          <a:solidFill>
            <a:srgbClr val="0A2C39"/>
          </a:solidFill>
          <a:ln w="12700">
            <a:solidFill>
              <a:srgbClr val="1C4F6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412480" y="2185416"/>
            <a:ext cx="786384" cy="786384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080" y="2414016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12480" y="3118104"/>
            <a:ext cx="2871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선제적 공기질 관리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412480" y="353872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FD4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혼잡이 시작되기 전에 환기를 가동해 항상 쾌적한 실내 공기질을 유지한다.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566928" y="4526280"/>
            <a:ext cx="11027664" cy="1371600"/>
          </a:xfrm>
          <a:prstGeom prst="roundRect">
            <a:avLst>
              <a:gd name="adj" fmla="val 4667"/>
            </a:avLst>
          </a:prstGeom>
          <a:solidFill>
            <a:srgbClr val="2A9D8F"/>
          </a:solidFill>
          <a:ln/>
          <a:effectLst>
            <a:outerShdw blurRad="88900" dist="25400" dir="5400000" algn="bl" rotWithShape="0">
              <a:srgbClr val="0A2C39">
                <a:alpha val="16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1024128" y="4526280"/>
            <a:ext cx="101132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기반 시·공간 차등 제어로 환기 효율과 공기질을 동시에 극대화합니다.</a:t>
            </a:r>
            <a:endParaRPr lang="en-US" sz="2100" dirty="0"/>
          </a:p>
        </p:txBody>
      </p:sp>
      <p:sp>
        <p:nvSpPr>
          <p:cNvPr id="23" name="Text 18"/>
          <p:cNvSpPr/>
          <p:nvPr/>
        </p:nvSpPr>
        <p:spPr>
          <a:xfrm>
            <a:off x="566928" y="6144768"/>
            <a:ext cx="11027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A0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시간 예측 데이터를 활용한 스마트 환기 운영 최적화 제안  ·  서울교통공사 입찰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1262</Words>
  <Application>Microsoft Office PowerPoint</Application>
  <PresentationFormat>사용자 지정</PresentationFormat>
  <Paragraphs>209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Malgun Gothic</vt:lpstr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기반 스마트 환기 운영 최적화 제안</dc:title>
  <dc:subject>PptxGenJS Presentation</dc:subject>
  <dc:creator>Data Consulting</dc:creator>
  <cp:lastModifiedBy>중진공18</cp:lastModifiedBy>
  <cp:revision>8</cp:revision>
  <dcterms:created xsi:type="dcterms:W3CDTF">2026-06-26T01:38:55Z</dcterms:created>
  <dcterms:modified xsi:type="dcterms:W3CDTF">2026-06-26T02:30:28Z</dcterms:modified>
</cp:coreProperties>
</file>